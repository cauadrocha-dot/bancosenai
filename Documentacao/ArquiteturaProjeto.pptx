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1" r:id="rId4"/>
    <p:sldId id="262" r:id="rId5"/>
    <p:sldId id="263" r:id="rId6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Estilo Médio 2 - Ênfase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Estilo Médio 2 - Ênfase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437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75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23911-63F9-4D1B-B658-668BA8A96493}" type="datetimeFigureOut">
              <a:rPr lang="pt-BR" smtClean="0"/>
              <a:t>23/06/2026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9BF99-B281-4BCF-A22C-66D1AA4B64D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083282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23911-63F9-4D1B-B658-668BA8A96493}" type="datetimeFigureOut">
              <a:rPr lang="pt-BR" smtClean="0"/>
              <a:t>23/06/2026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9BF99-B281-4BCF-A22C-66D1AA4B64D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008552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23911-63F9-4D1B-B658-668BA8A96493}" type="datetimeFigureOut">
              <a:rPr lang="pt-BR" smtClean="0"/>
              <a:t>23/06/2026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9BF99-B281-4BCF-A22C-66D1AA4B64D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802878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23911-63F9-4D1B-B658-668BA8A96493}" type="datetimeFigureOut">
              <a:rPr lang="pt-BR" smtClean="0"/>
              <a:t>23/06/2026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9BF99-B281-4BCF-A22C-66D1AA4B64D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522089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23911-63F9-4D1B-B658-668BA8A96493}" type="datetimeFigureOut">
              <a:rPr lang="pt-BR" smtClean="0"/>
              <a:t>23/06/2026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9BF99-B281-4BCF-A22C-66D1AA4B64D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848756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23911-63F9-4D1B-B658-668BA8A96493}" type="datetimeFigureOut">
              <a:rPr lang="pt-BR" smtClean="0"/>
              <a:t>23/06/2026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9BF99-B281-4BCF-A22C-66D1AA4B64D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857613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23911-63F9-4D1B-B658-668BA8A96493}" type="datetimeFigureOut">
              <a:rPr lang="pt-BR" smtClean="0"/>
              <a:t>23/06/2026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9BF99-B281-4BCF-A22C-66D1AA4B64D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521601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23911-63F9-4D1B-B658-668BA8A96493}" type="datetimeFigureOut">
              <a:rPr lang="pt-BR" smtClean="0"/>
              <a:t>23/06/2026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9BF99-B281-4BCF-A22C-66D1AA4B64D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878702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23911-63F9-4D1B-B658-668BA8A96493}" type="datetimeFigureOut">
              <a:rPr lang="pt-BR" smtClean="0"/>
              <a:t>23/06/2026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9BF99-B281-4BCF-A22C-66D1AA4B64D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502010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23911-63F9-4D1B-B658-668BA8A96493}" type="datetimeFigureOut">
              <a:rPr lang="pt-BR" smtClean="0"/>
              <a:t>23/06/2026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9BF99-B281-4BCF-A22C-66D1AA4B64D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852347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23911-63F9-4D1B-B658-668BA8A96493}" type="datetimeFigureOut">
              <a:rPr lang="pt-BR" smtClean="0"/>
              <a:t>23/06/2026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9BF99-B281-4BCF-A22C-66D1AA4B64D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242957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723911-63F9-4D1B-B658-668BA8A96493}" type="datetimeFigureOut">
              <a:rPr lang="pt-BR" smtClean="0"/>
              <a:t>23/06/2026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99BF99-B281-4BCF-A22C-66D1AA4B64D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655004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0" y="140230"/>
            <a:ext cx="12192000" cy="717725"/>
          </a:xfrm>
        </p:spPr>
        <p:txBody>
          <a:bodyPr>
            <a:normAutofit/>
          </a:bodyPr>
          <a:lstStyle/>
          <a:p>
            <a:r>
              <a:rPr lang="pt-BR" sz="4000" b="1" dirty="0">
                <a:latin typeface="Arial" panose="020B0604020202020204" pitchFamily="34" charset="0"/>
                <a:cs typeface="Arial" panose="020B0604020202020204" pitchFamily="34" charset="0"/>
              </a:rPr>
              <a:t>Orientações e Arquitetura do Projeto</a:t>
            </a:r>
          </a:p>
        </p:txBody>
      </p:sp>
      <p:sp>
        <p:nvSpPr>
          <p:cNvPr id="4" name="Retângulo 3"/>
          <p:cNvSpPr/>
          <p:nvPr/>
        </p:nvSpPr>
        <p:spPr>
          <a:xfrm>
            <a:off x="419101" y="1388533"/>
            <a:ext cx="5575299" cy="2810933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" name="CaixaDeTexto 4"/>
          <p:cNvSpPr txBox="1"/>
          <p:nvPr/>
        </p:nvSpPr>
        <p:spPr>
          <a:xfrm>
            <a:off x="338669" y="1019200"/>
            <a:ext cx="1422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Banco SENAI</a:t>
            </a:r>
          </a:p>
        </p:txBody>
      </p:sp>
      <p:sp>
        <p:nvSpPr>
          <p:cNvPr id="6" name="Retângulo 5"/>
          <p:cNvSpPr/>
          <p:nvPr/>
        </p:nvSpPr>
        <p:spPr>
          <a:xfrm>
            <a:off x="7563557" y="2139243"/>
            <a:ext cx="1038576" cy="1247424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8" name="Conector de Seta Reta 7"/>
          <p:cNvCxnSpPr>
            <a:stCxn id="4" idx="3"/>
          </p:cNvCxnSpPr>
          <p:nvPr/>
        </p:nvCxnSpPr>
        <p:spPr>
          <a:xfrm>
            <a:off x="5994400" y="2794000"/>
            <a:ext cx="141111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CaixaDeTexto 8"/>
          <p:cNvSpPr txBox="1"/>
          <p:nvPr/>
        </p:nvSpPr>
        <p:spPr>
          <a:xfrm>
            <a:off x="7563558" y="2382333"/>
            <a:ext cx="10385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Banco </a:t>
            </a:r>
          </a:p>
          <a:p>
            <a:pPr algn="ctr"/>
            <a:r>
              <a:rPr lang="pt-BR" dirty="0"/>
              <a:t>Central</a:t>
            </a:r>
          </a:p>
        </p:txBody>
      </p:sp>
      <p:sp>
        <p:nvSpPr>
          <p:cNvPr id="10" name="CaixaDeTexto 9"/>
          <p:cNvSpPr txBox="1"/>
          <p:nvPr/>
        </p:nvSpPr>
        <p:spPr>
          <a:xfrm>
            <a:off x="6203245" y="2438778"/>
            <a:ext cx="1038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Arquivos</a:t>
            </a:r>
          </a:p>
        </p:txBody>
      </p:sp>
      <p:sp>
        <p:nvSpPr>
          <p:cNvPr id="11" name="Retângulo 10"/>
          <p:cNvSpPr/>
          <p:nvPr/>
        </p:nvSpPr>
        <p:spPr>
          <a:xfrm>
            <a:off x="8421510" y="4744154"/>
            <a:ext cx="1219199" cy="1031502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Elipse 12"/>
          <p:cNvSpPr/>
          <p:nvPr/>
        </p:nvSpPr>
        <p:spPr>
          <a:xfrm>
            <a:off x="6440314" y="4744154"/>
            <a:ext cx="965197" cy="995867"/>
          </a:xfrm>
          <a:prstGeom prst="ellipse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CaixaDeTexto 13"/>
          <p:cNvSpPr txBox="1"/>
          <p:nvPr/>
        </p:nvSpPr>
        <p:spPr>
          <a:xfrm>
            <a:off x="8602133" y="5057421"/>
            <a:ext cx="1038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Fintech</a:t>
            </a:r>
          </a:p>
        </p:txBody>
      </p:sp>
      <p:sp>
        <p:nvSpPr>
          <p:cNvPr id="12" name="CaixaDeTexto 11"/>
          <p:cNvSpPr txBox="1"/>
          <p:nvPr/>
        </p:nvSpPr>
        <p:spPr>
          <a:xfrm>
            <a:off x="6429025" y="5057421"/>
            <a:ext cx="1038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>
                <a:solidFill>
                  <a:schemeClr val="bg1"/>
                </a:solidFill>
              </a:rPr>
              <a:t>Endpoint</a:t>
            </a:r>
          </a:p>
        </p:txBody>
      </p:sp>
      <p:cxnSp>
        <p:nvCxnSpPr>
          <p:cNvPr id="15" name="Conector de Seta Reta 14"/>
          <p:cNvCxnSpPr/>
          <p:nvPr/>
        </p:nvCxnSpPr>
        <p:spPr>
          <a:xfrm>
            <a:off x="7484536" y="5050176"/>
            <a:ext cx="705556" cy="724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ector de Seta Reta 16"/>
          <p:cNvCxnSpPr/>
          <p:nvPr/>
        </p:nvCxnSpPr>
        <p:spPr>
          <a:xfrm flipH="1">
            <a:off x="7411156" y="5400973"/>
            <a:ext cx="77893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ector reto 19"/>
          <p:cNvCxnSpPr/>
          <p:nvPr/>
        </p:nvCxnSpPr>
        <p:spPr>
          <a:xfrm flipH="1">
            <a:off x="3725335" y="5400973"/>
            <a:ext cx="2590799" cy="2578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ector de Seta Reta 20"/>
          <p:cNvCxnSpPr/>
          <p:nvPr/>
        </p:nvCxnSpPr>
        <p:spPr>
          <a:xfrm flipH="1" flipV="1">
            <a:off x="3702758" y="4196263"/>
            <a:ext cx="22576" cy="120471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tângulo Arredondado 25"/>
          <p:cNvSpPr/>
          <p:nvPr/>
        </p:nvSpPr>
        <p:spPr>
          <a:xfrm>
            <a:off x="1159932" y="3149997"/>
            <a:ext cx="688622" cy="733400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7" name="CaixaDeTexto 26"/>
          <p:cNvSpPr txBox="1"/>
          <p:nvPr/>
        </p:nvSpPr>
        <p:spPr>
          <a:xfrm>
            <a:off x="1258709" y="3340688"/>
            <a:ext cx="5305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DB</a:t>
            </a:r>
          </a:p>
        </p:txBody>
      </p:sp>
      <p:sp>
        <p:nvSpPr>
          <p:cNvPr id="28" name="Retângulo Arredondado 27"/>
          <p:cNvSpPr/>
          <p:nvPr/>
        </p:nvSpPr>
        <p:spPr>
          <a:xfrm>
            <a:off x="2565400" y="3124638"/>
            <a:ext cx="1416756" cy="725735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9" name="CaixaDeTexto 28"/>
          <p:cNvSpPr txBox="1"/>
          <p:nvPr/>
        </p:nvSpPr>
        <p:spPr>
          <a:xfrm>
            <a:off x="2565399" y="3288730"/>
            <a:ext cx="1422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>
                <a:solidFill>
                  <a:schemeClr val="bg1"/>
                </a:solidFill>
              </a:rPr>
              <a:t>BackEnd API</a:t>
            </a:r>
          </a:p>
        </p:txBody>
      </p:sp>
      <p:sp>
        <p:nvSpPr>
          <p:cNvPr id="30" name="Retângulo Arredondado 29"/>
          <p:cNvSpPr/>
          <p:nvPr/>
        </p:nvSpPr>
        <p:spPr>
          <a:xfrm>
            <a:off x="2542824" y="1876433"/>
            <a:ext cx="1416756" cy="725735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bg1"/>
              </a:solidFill>
            </a:endParaRPr>
          </a:p>
        </p:txBody>
      </p:sp>
      <p:sp>
        <p:nvSpPr>
          <p:cNvPr id="31" name="CaixaDeTexto 30"/>
          <p:cNvSpPr txBox="1"/>
          <p:nvPr/>
        </p:nvSpPr>
        <p:spPr>
          <a:xfrm>
            <a:off x="2610558" y="2054634"/>
            <a:ext cx="1422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>
                <a:solidFill>
                  <a:schemeClr val="bg1"/>
                </a:solidFill>
              </a:rPr>
              <a:t>FrontEnd</a:t>
            </a:r>
          </a:p>
        </p:txBody>
      </p:sp>
      <p:sp>
        <p:nvSpPr>
          <p:cNvPr id="32" name="CaixaDeTexto 31"/>
          <p:cNvSpPr txBox="1"/>
          <p:nvPr/>
        </p:nvSpPr>
        <p:spPr>
          <a:xfrm>
            <a:off x="1111959" y="1378985"/>
            <a:ext cx="1422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MVC</a:t>
            </a:r>
          </a:p>
        </p:txBody>
      </p:sp>
      <p:cxnSp>
        <p:nvCxnSpPr>
          <p:cNvPr id="36" name="Conector de Seta Reta 35"/>
          <p:cNvCxnSpPr/>
          <p:nvPr/>
        </p:nvCxnSpPr>
        <p:spPr>
          <a:xfrm>
            <a:off x="1837268" y="3487505"/>
            <a:ext cx="705556" cy="724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tângulo 37"/>
          <p:cNvSpPr/>
          <p:nvPr/>
        </p:nvSpPr>
        <p:spPr>
          <a:xfrm>
            <a:off x="419101" y="4886028"/>
            <a:ext cx="2741792" cy="1327878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9" name="CaixaDeTexto 38"/>
          <p:cNvSpPr txBox="1"/>
          <p:nvPr/>
        </p:nvSpPr>
        <p:spPr>
          <a:xfrm>
            <a:off x="338669" y="4566914"/>
            <a:ext cx="27093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SQUAD BI</a:t>
            </a:r>
          </a:p>
        </p:txBody>
      </p:sp>
      <p:cxnSp>
        <p:nvCxnSpPr>
          <p:cNvPr id="40" name="Conector de Seta Reta 39"/>
          <p:cNvCxnSpPr/>
          <p:nvPr/>
        </p:nvCxnSpPr>
        <p:spPr>
          <a:xfrm>
            <a:off x="1523998" y="3876992"/>
            <a:ext cx="0" cy="93104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CaixaDeTexto 42"/>
          <p:cNvSpPr txBox="1"/>
          <p:nvPr/>
        </p:nvSpPr>
        <p:spPr>
          <a:xfrm>
            <a:off x="976489" y="4883520"/>
            <a:ext cx="17215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Analise de Dados</a:t>
            </a:r>
          </a:p>
        </p:txBody>
      </p:sp>
      <p:sp>
        <p:nvSpPr>
          <p:cNvPr id="44" name="CaixaDeTexto 43"/>
          <p:cNvSpPr txBox="1"/>
          <p:nvPr/>
        </p:nvSpPr>
        <p:spPr>
          <a:xfrm>
            <a:off x="1072444" y="5653210"/>
            <a:ext cx="172155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/>
              <a:t>Python/Power BI ou Quicksight</a:t>
            </a:r>
          </a:p>
        </p:txBody>
      </p:sp>
      <p:sp>
        <p:nvSpPr>
          <p:cNvPr id="45" name="Retângulo 44"/>
          <p:cNvSpPr/>
          <p:nvPr/>
        </p:nvSpPr>
        <p:spPr>
          <a:xfrm>
            <a:off x="2114550" y="1074649"/>
            <a:ext cx="3879850" cy="30219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400" dirty="0"/>
              <a:t>C# / ASP.NET /CSS/ HTMl / JS ou Angular</a:t>
            </a:r>
          </a:p>
        </p:txBody>
      </p:sp>
      <p:sp>
        <p:nvSpPr>
          <p:cNvPr id="47" name="Retângulo 46"/>
          <p:cNvSpPr/>
          <p:nvPr/>
        </p:nvSpPr>
        <p:spPr>
          <a:xfrm>
            <a:off x="387169" y="6213905"/>
            <a:ext cx="2773723" cy="429795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400" dirty="0"/>
              <a:t>Power BI / Python / Quicksight / AWS Serviços</a:t>
            </a:r>
          </a:p>
        </p:txBody>
      </p:sp>
      <p:sp>
        <p:nvSpPr>
          <p:cNvPr id="49" name="Retângulo 48"/>
          <p:cNvSpPr/>
          <p:nvPr/>
        </p:nvSpPr>
        <p:spPr>
          <a:xfrm>
            <a:off x="7563557" y="3400692"/>
            <a:ext cx="1038576" cy="289292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400" dirty="0"/>
              <a:t>TXT / XML</a:t>
            </a:r>
          </a:p>
        </p:txBody>
      </p:sp>
      <p:sp>
        <p:nvSpPr>
          <p:cNvPr id="50" name="Retângulo 49"/>
          <p:cNvSpPr/>
          <p:nvPr/>
        </p:nvSpPr>
        <p:spPr>
          <a:xfrm>
            <a:off x="6448781" y="5785012"/>
            <a:ext cx="1038576" cy="329863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400" dirty="0"/>
              <a:t>API Rest</a:t>
            </a:r>
          </a:p>
        </p:txBody>
      </p:sp>
      <p:sp>
        <p:nvSpPr>
          <p:cNvPr id="51" name="CaixaDeTexto 50"/>
          <p:cNvSpPr txBox="1"/>
          <p:nvPr/>
        </p:nvSpPr>
        <p:spPr>
          <a:xfrm>
            <a:off x="10644719" y="6459034"/>
            <a:ext cx="1422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>
                <a:solidFill>
                  <a:schemeClr val="accent6"/>
                </a:solidFill>
              </a:rPr>
              <a:t>Banco</a:t>
            </a:r>
            <a:r>
              <a:rPr lang="pt-BR" b="1" dirty="0">
                <a:solidFill>
                  <a:srgbClr val="C00000"/>
                </a:solidFill>
              </a:rPr>
              <a:t>S</a:t>
            </a:r>
            <a:r>
              <a:rPr lang="pt-BR" b="1" dirty="0">
                <a:solidFill>
                  <a:schemeClr val="accent5"/>
                </a:solidFill>
              </a:rPr>
              <a:t>ENAI</a:t>
            </a:r>
          </a:p>
        </p:txBody>
      </p:sp>
      <p:sp>
        <p:nvSpPr>
          <p:cNvPr id="52" name="Retângulo 51"/>
          <p:cNvSpPr/>
          <p:nvPr/>
        </p:nvSpPr>
        <p:spPr>
          <a:xfrm>
            <a:off x="8421510" y="5775656"/>
            <a:ext cx="1219200" cy="30219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400" dirty="0"/>
              <a:t>Angular</a:t>
            </a:r>
          </a:p>
        </p:txBody>
      </p:sp>
      <p:sp>
        <p:nvSpPr>
          <p:cNvPr id="41" name="Retângulo Arredondado 40"/>
          <p:cNvSpPr/>
          <p:nvPr/>
        </p:nvSpPr>
        <p:spPr>
          <a:xfrm>
            <a:off x="4347281" y="3124638"/>
            <a:ext cx="1416756" cy="72573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TDD</a:t>
            </a:r>
          </a:p>
        </p:txBody>
      </p:sp>
      <p:cxnSp>
        <p:nvCxnSpPr>
          <p:cNvPr id="42" name="Conector de Seta Reta 41"/>
          <p:cNvCxnSpPr>
            <a:endCxn id="28" idx="3"/>
          </p:cNvCxnSpPr>
          <p:nvPr/>
        </p:nvCxnSpPr>
        <p:spPr>
          <a:xfrm flipH="1">
            <a:off x="3982156" y="3487505"/>
            <a:ext cx="342194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230550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0" y="140230"/>
            <a:ext cx="12192000" cy="717725"/>
          </a:xfrm>
        </p:spPr>
        <p:txBody>
          <a:bodyPr>
            <a:normAutofit/>
          </a:bodyPr>
          <a:lstStyle/>
          <a:p>
            <a:r>
              <a:rPr lang="pt-BR" sz="4000" b="1" dirty="0">
                <a:latin typeface="Arial" panose="020B0604020202020204" pitchFamily="34" charset="0"/>
                <a:cs typeface="Arial" panose="020B0604020202020204" pitchFamily="34" charset="0"/>
              </a:rPr>
              <a:t>DER INICIAL</a:t>
            </a:r>
          </a:p>
        </p:txBody>
      </p:sp>
      <p:sp>
        <p:nvSpPr>
          <p:cNvPr id="51" name="CaixaDeTexto 50"/>
          <p:cNvSpPr txBox="1"/>
          <p:nvPr/>
        </p:nvSpPr>
        <p:spPr>
          <a:xfrm>
            <a:off x="10644719" y="6459034"/>
            <a:ext cx="1422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>
                <a:solidFill>
                  <a:schemeClr val="accent6"/>
                </a:solidFill>
              </a:rPr>
              <a:t>Banco</a:t>
            </a:r>
            <a:r>
              <a:rPr lang="pt-BR" b="1" dirty="0">
                <a:solidFill>
                  <a:srgbClr val="C00000"/>
                </a:solidFill>
              </a:rPr>
              <a:t>S</a:t>
            </a:r>
            <a:r>
              <a:rPr lang="pt-BR" b="1" dirty="0">
                <a:solidFill>
                  <a:schemeClr val="accent5"/>
                </a:solidFill>
              </a:rPr>
              <a:t>ENAI</a:t>
            </a:r>
          </a:p>
        </p:txBody>
      </p:sp>
      <p:pic>
        <p:nvPicPr>
          <p:cNvPr id="3" name="Imagem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1493" y="910148"/>
            <a:ext cx="8869013" cy="549669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6" name="CaixaDeTexto 45"/>
          <p:cNvSpPr txBox="1"/>
          <p:nvPr/>
        </p:nvSpPr>
        <p:spPr>
          <a:xfrm>
            <a:off x="2048933" y="6089702"/>
            <a:ext cx="48034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Movimentação = Transações bancárias</a:t>
            </a:r>
          </a:p>
        </p:txBody>
      </p:sp>
    </p:spTree>
    <p:extLst>
      <p:ext uri="{BB962C8B-B14F-4D97-AF65-F5344CB8AC3E}">
        <p14:creationId xmlns:p14="http://schemas.microsoft.com/office/powerpoint/2010/main" val="42725973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0" y="140230"/>
            <a:ext cx="12192000" cy="717725"/>
          </a:xfrm>
        </p:spPr>
        <p:txBody>
          <a:bodyPr>
            <a:normAutofit/>
          </a:bodyPr>
          <a:lstStyle/>
          <a:p>
            <a:r>
              <a:rPr lang="pt-BR" sz="3600" dirty="0">
                <a:latin typeface="Arial" panose="020B0604020202020204" pitchFamily="34" charset="0"/>
                <a:cs typeface="Arial" panose="020B0604020202020204" pitchFamily="34" charset="0"/>
              </a:rPr>
              <a:t>REGRAS DE NEGÓCIO PRINCIPAIS</a:t>
            </a:r>
          </a:p>
        </p:txBody>
      </p:sp>
      <p:sp>
        <p:nvSpPr>
          <p:cNvPr id="51" name="CaixaDeTexto 50"/>
          <p:cNvSpPr txBox="1"/>
          <p:nvPr/>
        </p:nvSpPr>
        <p:spPr>
          <a:xfrm>
            <a:off x="10644719" y="6459034"/>
            <a:ext cx="1422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>
                <a:solidFill>
                  <a:schemeClr val="accent6"/>
                </a:solidFill>
              </a:rPr>
              <a:t>Banco</a:t>
            </a:r>
            <a:r>
              <a:rPr lang="pt-BR" b="1" dirty="0">
                <a:solidFill>
                  <a:srgbClr val="C00000"/>
                </a:solidFill>
              </a:rPr>
              <a:t>S</a:t>
            </a:r>
            <a:r>
              <a:rPr lang="pt-BR" b="1" dirty="0">
                <a:solidFill>
                  <a:schemeClr val="accent5"/>
                </a:solidFill>
              </a:rPr>
              <a:t>ENAI</a:t>
            </a:r>
          </a:p>
        </p:txBody>
      </p:sp>
      <p:graphicFrame>
        <p:nvGraphicFramePr>
          <p:cNvPr id="3" name="Tabela 2"/>
          <p:cNvGraphicFramePr>
            <a:graphicFrameLocks noGrp="1"/>
          </p:cNvGraphicFramePr>
          <p:nvPr/>
        </p:nvGraphicFramePr>
        <p:xfrm>
          <a:off x="1132419" y="1075266"/>
          <a:ext cx="10223500" cy="432816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198066">
                  <a:extLst>
                    <a:ext uri="{9D8B030D-6E8A-4147-A177-3AD203B41FA5}">
                      <a16:colId xmlns:a16="http://schemas.microsoft.com/office/drawing/2014/main" val="4042301403"/>
                    </a:ext>
                  </a:extLst>
                </a:gridCol>
                <a:gridCol w="9025434">
                  <a:extLst>
                    <a:ext uri="{9D8B030D-6E8A-4147-A177-3AD203B41FA5}">
                      <a16:colId xmlns:a16="http://schemas.microsoft.com/office/drawing/2014/main" val="15272179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t-BR" sz="2000" dirty="0"/>
                        <a:t>REGRA</a:t>
                      </a:r>
                      <a:r>
                        <a:rPr lang="pt-BR" sz="2000" baseline="0" dirty="0"/>
                        <a:t>  </a:t>
                      </a:r>
                      <a:endParaRPr lang="pt-BR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sz="2000" dirty="0"/>
                        <a:t>CONCEITO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88201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pt-BR" sz="2000" dirty="0"/>
                        <a:t>R01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sz="2000" b="1" dirty="0"/>
                        <a:t>Abertura</a:t>
                      </a:r>
                      <a:r>
                        <a:rPr lang="pt-BR" sz="2000" b="1" baseline="0" dirty="0"/>
                        <a:t> de Conta Digitalmente </a:t>
                      </a:r>
                      <a:r>
                        <a:rPr lang="pt-BR" sz="2000" baseline="0" dirty="0"/>
                        <a:t>– cliente acessa link onde deve informar os dados pessoais.  Ao enviar o status da conta fica em “Em Analise”. Sistema processa fluxo de Validar Abertura de Conta com regras especificas que irá retorna o status Aprovado, ou Reprovado.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16395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pt-BR" sz="2000" dirty="0"/>
                        <a:t>R02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sz="2000" baseline="0" dirty="0"/>
                        <a:t>Envio PIX – cliente informa chave. Sistema valida se chave existe no banco ou em outro banco via Banco Central (API Externa). Validado , verifica se tem saldo, se sim faz o envio e atualização de saldo.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88450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pt-BR" sz="2000" dirty="0"/>
                        <a:t>R03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sz="2000" baseline="0" dirty="0"/>
                        <a:t>Empréstimo – são produtos do Banco ofertado para os clientes. O cliente acessar link onde mostrar os valores disponíveis para ele. Informa taxa de juros ao ano e numero de parcelas para serem escolhidas. No final informar o valor a ser pago ao final do pagamento de todas as parcelas aplicadas o juros e opção para CONFIRMAR o empréstimo.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74744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747694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E01F9B-7BD2-EC14-A50A-57CED0164E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58F6847-310F-615C-8729-B20A696835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40230"/>
            <a:ext cx="12192000" cy="717725"/>
          </a:xfrm>
        </p:spPr>
        <p:txBody>
          <a:bodyPr>
            <a:normAutofit/>
          </a:bodyPr>
          <a:lstStyle/>
          <a:p>
            <a:r>
              <a:rPr lang="pt-BR" sz="3600" dirty="0">
                <a:latin typeface="Arial" panose="020B0604020202020204" pitchFamily="34" charset="0"/>
                <a:cs typeface="Arial" panose="020B0604020202020204" pitchFamily="34" charset="0"/>
              </a:rPr>
              <a:t>REGRAS DE NEGÓCIO CRUD</a:t>
            </a:r>
          </a:p>
        </p:txBody>
      </p:sp>
      <p:sp>
        <p:nvSpPr>
          <p:cNvPr id="51" name="CaixaDeTexto 50">
            <a:extLst>
              <a:ext uri="{FF2B5EF4-FFF2-40B4-BE49-F238E27FC236}">
                <a16:creationId xmlns:a16="http://schemas.microsoft.com/office/drawing/2014/main" id="{D414EAA5-5125-6EAE-28DC-455C19FCC473}"/>
              </a:ext>
            </a:extLst>
          </p:cNvPr>
          <p:cNvSpPr txBox="1"/>
          <p:nvPr/>
        </p:nvSpPr>
        <p:spPr>
          <a:xfrm>
            <a:off x="10644719" y="6459034"/>
            <a:ext cx="1422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>
                <a:solidFill>
                  <a:schemeClr val="accent6"/>
                </a:solidFill>
              </a:rPr>
              <a:t>Banco</a:t>
            </a:r>
            <a:r>
              <a:rPr lang="pt-BR" b="1" dirty="0">
                <a:solidFill>
                  <a:srgbClr val="C00000"/>
                </a:solidFill>
              </a:rPr>
              <a:t>S</a:t>
            </a:r>
            <a:r>
              <a:rPr lang="pt-BR" b="1" dirty="0">
                <a:solidFill>
                  <a:schemeClr val="accent5"/>
                </a:solidFill>
              </a:rPr>
              <a:t>ENAI</a:t>
            </a:r>
          </a:p>
        </p:txBody>
      </p:sp>
      <p:graphicFrame>
        <p:nvGraphicFramePr>
          <p:cNvPr id="3" name="Tabela 2">
            <a:extLst>
              <a:ext uri="{FF2B5EF4-FFF2-40B4-BE49-F238E27FC236}">
                <a16:creationId xmlns:a16="http://schemas.microsoft.com/office/drawing/2014/main" id="{1F2D5F88-1773-6CE0-B5D3-FB2AB2AD2066}"/>
              </a:ext>
            </a:extLst>
          </p:cNvPr>
          <p:cNvGraphicFramePr>
            <a:graphicFrameLocks noGrp="1"/>
          </p:cNvGraphicFramePr>
          <p:nvPr/>
        </p:nvGraphicFramePr>
        <p:xfrm>
          <a:off x="1132419" y="1075266"/>
          <a:ext cx="10223500" cy="524256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198066">
                  <a:extLst>
                    <a:ext uri="{9D8B030D-6E8A-4147-A177-3AD203B41FA5}">
                      <a16:colId xmlns:a16="http://schemas.microsoft.com/office/drawing/2014/main" val="4042301403"/>
                    </a:ext>
                  </a:extLst>
                </a:gridCol>
                <a:gridCol w="9025434">
                  <a:extLst>
                    <a:ext uri="{9D8B030D-6E8A-4147-A177-3AD203B41FA5}">
                      <a16:colId xmlns:a16="http://schemas.microsoft.com/office/drawing/2014/main" val="15272179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t-BR" sz="2000" dirty="0"/>
                        <a:t>REGRA</a:t>
                      </a:r>
                      <a:r>
                        <a:rPr lang="pt-BR" sz="2000" baseline="0" dirty="0"/>
                        <a:t>  </a:t>
                      </a:r>
                      <a:endParaRPr lang="pt-BR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sz="2000" dirty="0"/>
                        <a:t>CONCEITO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88201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pt-BR" sz="2000" dirty="0"/>
                        <a:t>R04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sz="2000" b="1" baseline="0" dirty="0"/>
                        <a:t>CRUD AGÊNCIA</a:t>
                      </a:r>
                      <a:r>
                        <a:rPr lang="pt-BR" sz="2000" baseline="0" dirty="0"/>
                        <a:t>: O BANCOSENAI contém várias agências distribuídas em todas as unidades da federação. Desse modo, deve ser possível cadastrar, alterar, pesquisar e excluir dados das agências. Para cada agência deve ser possível visualizar o Número da agencia, cidade que está situada e Sigla do estado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16395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000" dirty="0"/>
                        <a:t>R05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sz="2000" b="1" dirty="0"/>
                        <a:t>CRUD CARTEIRA: </a:t>
                      </a:r>
                      <a:r>
                        <a:rPr lang="pt-BR" sz="2000" b="0" dirty="0"/>
                        <a:t>no sistema financeira carteira é uma forma de classificar o tipo de cliente. Exemplo de carteira são Agro, Varejo, Atacado. O banco ele tem um apetite por carteira. Esse apetite é o valor em decimal de quanto cada carteira deve ter para considerar uma carteira saudável. Um apetite de 1Bilhão significa que o esperado da soma de todos os saldos de contas nessa carteira esteja acima desse valor. Para cada carteira precisamos do Número, Nome e Apetite. O valor inicial do apetite é de 1milhão para cada carteira.</a:t>
                      </a:r>
                      <a:endParaRPr lang="pt-BR" sz="2000" baseline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74744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pt-BR" sz="2000" dirty="0"/>
                        <a:t>R06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000" b="1" dirty="0"/>
                        <a:t>CRUD CLIENTE:  </a:t>
                      </a:r>
                      <a:r>
                        <a:rPr lang="pt-BR" sz="2000" b="0" dirty="0"/>
                        <a:t>deve ser possível cadastrar novos clientes no sistema e fazer operações de atualizações. Para cada cliente deve ter obrigatoriamente Código  (automático pelo sistema), nome, cpf, Numero da Agência o padrão é 10 e saldo total no banco  0,0.  Esse saldo </a:t>
                      </a:r>
                      <a:endParaRPr lang="pt-BR" sz="2000" baseline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18436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739928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0" y="140230"/>
            <a:ext cx="12192000" cy="717725"/>
          </a:xfrm>
        </p:spPr>
        <p:txBody>
          <a:bodyPr>
            <a:normAutofit/>
          </a:bodyPr>
          <a:lstStyle/>
          <a:p>
            <a:r>
              <a:rPr lang="pt-BR" sz="3600" dirty="0">
                <a:latin typeface="Arial" panose="020B0604020202020204" pitchFamily="34" charset="0"/>
                <a:cs typeface="Arial" panose="020B0604020202020204" pitchFamily="34" charset="0"/>
              </a:rPr>
              <a:t>REGRAS DE NEGÓCIO PRINCIPAIS</a:t>
            </a:r>
          </a:p>
        </p:txBody>
      </p:sp>
      <p:sp>
        <p:nvSpPr>
          <p:cNvPr id="51" name="CaixaDeTexto 50"/>
          <p:cNvSpPr txBox="1"/>
          <p:nvPr/>
        </p:nvSpPr>
        <p:spPr>
          <a:xfrm>
            <a:off x="10644719" y="6459034"/>
            <a:ext cx="1422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>
                <a:solidFill>
                  <a:schemeClr val="accent6"/>
                </a:solidFill>
              </a:rPr>
              <a:t>Banco</a:t>
            </a:r>
            <a:r>
              <a:rPr lang="pt-BR" b="1" dirty="0">
                <a:solidFill>
                  <a:srgbClr val="C00000"/>
                </a:solidFill>
              </a:rPr>
              <a:t>S</a:t>
            </a:r>
            <a:r>
              <a:rPr lang="pt-BR" b="1" dirty="0">
                <a:solidFill>
                  <a:schemeClr val="accent5"/>
                </a:solidFill>
              </a:rPr>
              <a:t>ENAI</a:t>
            </a:r>
          </a:p>
        </p:txBody>
      </p:sp>
      <p:graphicFrame>
        <p:nvGraphicFramePr>
          <p:cNvPr id="3" name="Tabela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96229"/>
              </p:ext>
            </p:extLst>
          </p:nvPr>
        </p:nvGraphicFramePr>
        <p:xfrm>
          <a:off x="1132419" y="1075266"/>
          <a:ext cx="10223500" cy="249936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198066">
                  <a:extLst>
                    <a:ext uri="{9D8B030D-6E8A-4147-A177-3AD203B41FA5}">
                      <a16:colId xmlns:a16="http://schemas.microsoft.com/office/drawing/2014/main" val="4042301403"/>
                    </a:ext>
                  </a:extLst>
                </a:gridCol>
                <a:gridCol w="9025434">
                  <a:extLst>
                    <a:ext uri="{9D8B030D-6E8A-4147-A177-3AD203B41FA5}">
                      <a16:colId xmlns:a16="http://schemas.microsoft.com/office/drawing/2014/main" val="15272179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t-BR" sz="2000" dirty="0"/>
                        <a:t>REGRA</a:t>
                      </a:r>
                      <a:r>
                        <a:rPr lang="pt-BR" sz="2000" baseline="0" dirty="0"/>
                        <a:t>  </a:t>
                      </a:r>
                      <a:endParaRPr lang="pt-BR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sz="2000" dirty="0"/>
                        <a:t>CONCEITO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88201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pt-BR" sz="2000" dirty="0"/>
                        <a:t>R07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sz="2000" b="1" baseline="0" dirty="0"/>
                        <a:t>Segurança de Acesso a Conta </a:t>
                      </a:r>
                      <a:r>
                        <a:rPr lang="pt-BR" sz="2000" baseline="0" dirty="0"/>
                        <a:t>– O sistema deve implementar um mecanismo detectar se quem esta acessando a conta via aplicativo é a pessoa real ou um possível fraudulento de forma faço bloqueio imediato quando dados de credenciais forem passados de forma incorreta.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16395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endParaRPr lang="pt-BR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pt-BR" sz="2000" baseline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88450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endParaRPr lang="pt-BR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pt-BR" sz="2000" baseline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74744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7421817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1308</TotalTime>
  <Words>494</Words>
  <Application>Microsoft Office PowerPoint</Application>
  <PresentationFormat>Widescreen</PresentationFormat>
  <Paragraphs>50</Paragraphs>
  <Slides>5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Tema do Office</vt:lpstr>
      <vt:lpstr>Orientações e Arquitetura do Projeto</vt:lpstr>
      <vt:lpstr>DER INICIAL</vt:lpstr>
      <vt:lpstr>REGRAS DE NEGÓCIO PRINCIPAIS</vt:lpstr>
      <vt:lpstr>REGRAS DE NEGÓCIO CRUD</vt:lpstr>
      <vt:lpstr>REGRAS DE NEGÓCIO PRINCIPAIS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Arquitetura do Projeto</dc:title>
  <dc:creator>Professor.Cetafest</dc:creator>
  <cp:lastModifiedBy>Professor.Cetafest</cp:lastModifiedBy>
  <cp:revision>15</cp:revision>
  <dcterms:created xsi:type="dcterms:W3CDTF">2026-05-20T11:32:37Z</dcterms:created>
  <dcterms:modified xsi:type="dcterms:W3CDTF">2026-06-23T20:16:36Z</dcterms:modified>
</cp:coreProperties>
</file>