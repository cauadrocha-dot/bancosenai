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7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32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85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28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20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87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76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6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87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20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23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29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911-63F9-4D1B-B658-668BA8A96493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9BF99-B281-4BCF-A22C-66D1AA4B64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50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Orientações e Arquitetura do Projeto</a:t>
            </a:r>
          </a:p>
        </p:txBody>
      </p:sp>
      <p:sp>
        <p:nvSpPr>
          <p:cNvPr id="4" name="Retângulo 3"/>
          <p:cNvSpPr/>
          <p:nvPr/>
        </p:nvSpPr>
        <p:spPr>
          <a:xfrm>
            <a:off x="419101" y="1388533"/>
            <a:ext cx="5575299" cy="281093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338669" y="101920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Banco SENAI</a:t>
            </a:r>
          </a:p>
        </p:txBody>
      </p:sp>
      <p:sp>
        <p:nvSpPr>
          <p:cNvPr id="6" name="Retângulo 5"/>
          <p:cNvSpPr/>
          <p:nvPr/>
        </p:nvSpPr>
        <p:spPr>
          <a:xfrm>
            <a:off x="7563557" y="2139243"/>
            <a:ext cx="1038576" cy="124742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/>
          <p:cNvCxnSpPr>
            <a:stCxn id="4" idx="3"/>
          </p:cNvCxnSpPr>
          <p:nvPr/>
        </p:nvCxnSpPr>
        <p:spPr>
          <a:xfrm>
            <a:off x="5994400" y="2794000"/>
            <a:ext cx="14111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563558" y="2382333"/>
            <a:ext cx="103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Banco </a:t>
            </a:r>
          </a:p>
          <a:p>
            <a:pPr algn="ctr"/>
            <a:r>
              <a:rPr lang="pt-BR" dirty="0"/>
              <a:t>Central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203245" y="2438778"/>
            <a:ext cx="103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Arquivos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8421510" y="4744154"/>
            <a:ext cx="1219199" cy="103150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6440314" y="4744154"/>
            <a:ext cx="965197" cy="99586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8602133" y="5057421"/>
            <a:ext cx="103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Fintech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429025" y="5057421"/>
            <a:ext cx="103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Endpoint</a:t>
            </a: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7484536" y="5050176"/>
            <a:ext cx="705556" cy="72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flipH="1">
            <a:off x="7411156" y="5400973"/>
            <a:ext cx="7789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 flipH="1">
            <a:off x="3725335" y="5400973"/>
            <a:ext cx="2590799" cy="257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H="1" flipV="1">
            <a:off x="3702758" y="4196263"/>
            <a:ext cx="22576" cy="1204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Arredondado 25"/>
          <p:cNvSpPr/>
          <p:nvPr/>
        </p:nvSpPr>
        <p:spPr>
          <a:xfrm>
            <a:off x="1159932" y="3149997"/>
            <a:ext cx="688622" cy="733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1258709" y="3340688"/>
            <a:ext cx="53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DB</a:t>
            </a:r>
          </a:p>
        </p:txBody>
      </p:sp>
      <p:sp>
        <p:nvSpPr>
          <p:cNvPr id="28" name="Retângulo Arredondado 27"/>
          <p:cNvSpPr/>
          <p:nvPr/>
        </p:nvSpPr>
        <p:spPr>
          <a:xfrm>
            <a:off x="2565400" y="3124638"/>
            <a:ext cx="1416756" cy="72573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2565399" y="328873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BackEnd API</a:t>
            </a:r>
          </a:p>
        </p:txBody>
      </p:sp>
      <p:sp>
        <p:nvSpPr>
          <p:cNvPr id="30" name="Retângulo Arredondado 29"/>
          <p:cNvSpPr/>
          <p:nvPr/>
        </p:nvSpPr>
        <p:spPr>
          <a:xfrm>
            <a:off x="2542824" y="1876433"/>
            <a:ext cx="1416756" cy="72573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610558" y="20546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1959" y="1378985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MVC</a:t>
            </a:r>
          </a:p>
        </p:txBody>
      </p:sp>
      <p:cxnSp>
        <p:nvCxnSpPr>
          <p:cNvPr id="36" name="Conector de Seta Reta 35"/>
          <p:cNvCxnSpPr/>
          <p:nvPr/>
        </p:nvCxnSpPr>
        <p:spPr>
          <a:xfrm>
            <a:off x="1837268" y="3487505"/>
            <a:ext cx="705556" cy="72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419101" y="4886028"/>
            <a:ext cx="2741792" cy="132787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/>
          <p:cNvSpPr txBox="1"/>
          <p:nvPr/>
        </p:nvSpPr>
        <p:spPr>
          <a:xfrm>
            <a:off x="338669" y="4566914"/>
            <a:ext cx="270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SQUAD BI</a:t>
            </a:r>
          </a:p>
        </p:txBody>
      </p:sp>
      <p:cxnSp>
        <p:nvCxnSpPr>
          <p:cNvPr id="40" name="Conector de Seta Reta 39"/>
          <p:cNvCxnSpPr/>
          <p:nvPr/>
        </p:nvCxnSpPr>
        <p:spPr>
          <a:xfrm>
            <a:off x="1523998" y="3876992"/>
            <a:ext cx="0" cy="931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976489" y="4883520"/>
            <a:ext cx="172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Analise de Dados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1072444" y="5653210"/>
            <a:ext cx="172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Python/Power BI ou Quicksight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2114550" y="1074649"/>
            <a:ext cx="3879850" cy="302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C# / ASP.NET /CSS/ HTMl / JS ou Angular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387169" y="6213905"/>
            <a:ext cx="2773723" cy="4297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Power BI / Python / Quicksight / AWS Serviços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7563557" y="3400692"/>
            <a:ext cx="1038576" cy="2892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TXT / XML</a:t>
            </a:r>
          </a:p>
        </p:txBody>
      </p:sp>
      <p:sp>
        <p:nvSpPr>
          <p:cNvPr id="50" name="Retângulo 49"/>
          <p:cNvSpPr/>
          <p:nvPr/>
        </p:nvSpPr>
        <p:spPr>
          <a:xfrm>
            <a:off x="6448781" y="5785012"/>
            <a:ext cx="1038576" cy="3298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API Rest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8421510" y="5775656"/>
            <a:ext cx="1219200" cy="302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JS/CSS/HTML</a:t>
            </a:r>
          </a:p>
        </p:txBody>
      </p:sp>
      <p:sp>
        <p:nvSpPr>
          <p:cNvPr id="41" name="Retângulo Arredondado 40"/>
          <p:cNvSpPr/>
          <p:nvPr/>
        </p:nvSpPr>
        <p:spPr>
          <a:xfrm>
            <a:off x="4347281" y="3124638"/>
            <a:ext cx="1416756" cy="7257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TDD</a:t>
            </a:r>
          </a:p>
        </p:txBody>
      </p:sp>
      <p:cxnSp>
        <p:nvCxnSpPr>
          <p:cNvPr id="42" name="Conector de Seta Reta 41"/>
          <p:cNvCxnSpPr>
            <a:endCxn id="28" idx="3"/>
          </p:cNvCxnSpPr>
          <p:nvPr/>
        </p:nvCxnSpPr>
        <p:spPr>
          <a:xfrm flipH="1">
            <a:off x="3982156" y="3487505"/>
            <a:ext cx="34219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4171B702-96BA-A5DB-27D2-9AB9D3FF3FD0}"/>
              </a:ext>
            </a:extLst>
          </p:cNvPr>
          <p:cNvSpPr/>
          <p:nvPr/>
        </p:nvSpPr>
        <p:spPr>
          <a:xfrm>
            <a:off x="8421510" y="6124559"/>
            <a:ext cx="1219200" cy="302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122305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DER INICIAL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910148"/>
            <a:ext cx="8869013" cy="5496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6" name="CaixaDeTexto 45"/>
          <p:cNvSpPr txBox="1"/>
          <p:nvPr/>
        </p:nvSpPr>
        <p:spPr>
          <a:xfrm>
            <a:off x="2048933" y="6089702"/>
            <a:ext cx="480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Movimentação = Transações bancárias</a:t>
            </a:r>
          </a:p>
        </p:txBody>
      </p:sp>
    </p:spTree>
    <p:extLst>
      <p:ext uri="{BB962C8B-B14F-4D97-AF65-F5344CB8AC3E}">
        <p14:creationId xmlns:p14="http://schemas.microsoft.com/office/powerpoint/2010/main" val="427259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REGRAS DE NEGÓCIO PRINCIPAIS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73158"/>
              </p:ext>
            </p:extLst>
          </p:nvPr>
        </p:nvGraphicFramePr>
        <p:xfrm>
          <a:off x="1132419" y="1075266"/>
          <a:ext cx="10223500" cy="4328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8066">
                  <a:extLst>
                    <a:ext uri="{9D8B030D-6E8A-4147-A177-3AD203B41FA5}">
                      <a16:colId xmlns:a16="http://schemas.microsoft.com/office/drawing/2014/main" val="4042301403"/>
                    </a:ext>
                  </a:extLst>
                </a:gridCol>
                <a:gridCol w="9025434">
                  <a:extLst>
                    <a:ext uri="{9D8B030D-6E8A-4147-A177-3AD203B41FA5}">
                      <a16:colId xmlns:a16="http://schemas.microsoft.com/office/drawing/2014/main" val="152721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REGRA</a:t>
                      </a:r>
                      <a:r>
                        <a:rPr lang="pt-BR" sz="2000" baseline="0" dirty="0"/>
                        <a:t> 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CONCEITO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2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Abertura</a:t>
                      </a:r>
                      <a:r>
                        <a:rPr lang="pt-BR" sz="2000" b="1" baseline="0" dirty="0"/>
                        <a:t> de Conta Digitalmente </a:t>
                      </a:r>
                      <a:r>
                        <a:rPr lang="pt-BR" sz="2000" baseline="0" dirty="0"/>
                        <a:t>– cliente acessa link onde deve informar os dados pessoais.  Ao enviar o status da conta fica em “Em Analise”. Sistema processa fluxo de Validar Abertura de Conta com regras especificas que irá retorna o status Aprovado, ou Reprovado.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aseline="0" dirty="0"/>
                        <a:t>Envio PIX – cliente informa chave. Sistema valida se chave existe no banco ou em outro banco via Banco Central (API Externa). Validado , verifica se tem saldo, se sim faz o envio e atualização de saldo.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84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aseline="0" dirty="0"/>
                        <a:t>Empréstimo – são produtos do Banco ofertado para os clientes. O cliente acessar link onde mostrar os valores disponíveis para ele. Informa taxa de juros ao ano e numero de parcelas para serem escolhidas. No final informar o valor a ser pago ao final do pagamento de todas as parcelas aplicadas o juros e opção para CONFIRMAR o empréstimo.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74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82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1F9B-7BD2-EC14-A50A-57CED016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F6847-310F-615C-8729-B20A69683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REGRAS DE NEGÓCIO CRUD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414EAA5-5125-6EAE-28DC-455C19FCC473}"/>
              </a:ext>
            </a:extLst>
          </p:cNvPr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F2D5F88-1773-6CE0-B5D3-FB2AB2AD2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56826"/>
              </p:ext>
            </p:extLst>
          </p:nvPr>
        </p:nvGraphicFramePr>
        <p:xfrm>
          <a:off x="1132419" y="1075266"/>
          <a:ext cx="10223500" cy="5242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8066">
                  <a:extLst>
                    <a:ext uri="{9D8B030D-6E8A-4147-A177-3AD203B41FA5}">
                      <a16:colId xmlns:a16="http://schemas.microsoft.com/office/drawing/2014/main" val="4042301403"/>
                    </a:ext>
                  </a:extLst>
                </a:gridCol>
                <a:gridCol w="9025434">
                  <a:extLst>
                    <a:ext uri="{9D8B030D-6E8A-4147-A177-3AD203B41FA5}">
                      <a16:colId xmlns:a16="http://schemas.microsoft.com/office/drawing/2014/main" val="152721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REGRA</a:t>
                      </a:r>
                      <a:r>
                        <a:rPr lang="pt-BR" sz="2000" baseline="0" dirty="0"/>
                        <a:t> 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CONCEITO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2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baseline="0" dirty="0"/>
                        <a:t>CRUD AGÊNCIA</a:t>
                      </a:r>
                      <a:r>
                        <a:rPr lang="pt-BR" sz="2000" baseline="0" dirty="0"/>
                        <a:t>: O BANCOSENAI contém várias agências distribuídas em todas as unidades da federação. Desse modo, deve ser possível cadastrar, alterar, pesquisar e excluir dados das agências. Para cada agência deve ser possível visualizar o Número da agencia, cidade que está situada e Sigla do 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/>
                        <a:t>R05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CRUD CARTEIRA: </a:t>
                      </a:r>
                      <a:r>
                        <a:rPr lang="pt-BR" sz="2000" b="0" dirty="0"/>
                        <a:t>no sistema financeira carteira é uma forma de classificar o tipo de cliente. Exemplo de carteira são Agro, Varejo, Atacado. O banco ele tem um apetite por carteira. Esse apetite é o valor em decimal de quanto cada carteira deve ter para considerar uma carteira saudável. Um apetite de 1Bilhão significa que o esperado da soma de todos os saldos de contas nessa carteira esteja acima desse valor. Para cada carteira precisamos do Número, Nome e Apetite. O valor inicial do apetite é de 1milhão para cada carteira.</a:t>
                      </a:r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74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dirty="0"/>
                        <a:t>CRUD CLIENTE:  </a:t>
                      </a:r>
                      <a:r>
                        <a:rPr lang="pt-BR" sz="2000" b="0" dirty="0"/>
                        <a:t>deve ser possível cadastrar novos clientes no sistema e fazer operações de atualizações. Para cada cliente deve ter obrigatoriamente Código  (automático pelo sistema), nome, cpf, Numero da Agência o padrão é 10 e saldo total no banco  0,0.  Esse saldo </a:t>
                      </a:r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4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21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E2942-3086-9D3E-E9C6-5E99D60A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DB464-5758-6919-CAA0-DCC843AB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230"/>
            <a:ext cx="12192000" cy="717725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REGRAS DE NEGÓCIO NÃO FUNCIONAIS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053FD15-5F4D-C72C-DE48-B1775DC515B9}"/>
              </a:ext>
            </a:extLst>
          </p:cNvPr>
          <p:cNvSpPr txBox="1"/>
          <p:nvPr/>
        </p:nvSpPr>
        <p:spPr>
          <a:xfrm>
            <a:off x="10644719" y="6459034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</a:rPr>
              <a:t>Banco</a:t>
            </a:r>
            <a:r>
              <a:rPr lang="pt-BR" b="1" dirty="0">
                <a:solidFill>
                  <a:srgbClr val="C00000"/>
                </a:solidFill>
              </a:rPr>
              <a:t>S</a:t>
            </a:r>
            <a:r>
              <a:rPr lang="pt-BR" b="1" dirty="0">
                <a:solidFill>
                  <a:schemeClr val="accent5"/>
                </a:solidFill>
              </a:rPr>
              <a:t>ENAI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14EE365-EEDD-71AD-C08F-481BB7F2B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82708"/>
              </p:ext>
            </p:extLst>
          </p:nvPr>
        </p:nvGraphicFramePr>
        <p:xfrm>
          <a:off x="1132419" y="1075266"/>
          <a:ext cx="10223500" cy="2194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8066">
                  <a:extLst>
                    <a:ext uri="{9D8B030D-6E8A-4147-A177-3AD203B41FA5}">
                      <a16:colId xmlns:a16="http://schemas.microsoft.com/office/drawing/2014/main" val="4042301403"/>
                    </a:ext>
                  </a:extLst>
                </a:gridCol>
                <a:gridCol w="9025434">
                  <a:extLst>
                    <a:ext uri="{9D8B030D-6E8A-4147-A177-3AD203B41FA5}">
                      <a16:colId xmlns:a16="http://schemas.microsoft.com/office/drawing/2014/main" val="1527217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REGRA</a:t>
                      </a:r>
                      <a:r>
                        <a:rPr lang="pt-BR" sz="2000" baseline="0" dirty="0"/>
                        <a:t>  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CONCEITO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82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RN01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baseline="0" dirty="0"/>
                        <a:t>SEGURANÇA: </a:t>
                      </a:r>
                      <a:r>
                        <a:rPr lang="pt-BR" sz="2000" b="0" baseline="0" dirty="0"/>
                        <a:t>quando disponibilizado endpoints para acesso a sistemas internos ou externos, o acesso deve ser feito por liberação de Tokens via passagem de credencias de acesso (login) </a:t>
                      </a:r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6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74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84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5115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487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Orientações e Arquitetura do Projeto</vt:lpstr>
      <vt:lpstr>DER INICIAL</vt:lpstr>
      <vt:lpstr>REGRAS DE NEGÓCIO PRINCIPAIS</vt:lpstr>
      <vt:lpstr>REGRAS DE NEGÓCIO CRUD</vt:lpstr>
      <vt:lpstr>REGRAS DE NEGÓCIO NÃO FUNCIONAIS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do Projeto</dc:title>
  <dc:creator>Professor.Cetafest</dc:creator>
  <cp:lastModifiedBy>Reginaldo Reis</cp:lastModifiedBy>
  <cp:revision>15</cp:revision>
  <dcterms:created xsi:type="dcterms:W3CDTF">2026-05-20T11:32:37Z</dcterms:created>
  <dcterms:modified xsi:type="dcterms:W3CDTF">2026-06-23T10:33:42Z</dcterms:modified>
</cp:coreProperties>
</file>