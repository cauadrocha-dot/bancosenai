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37" autoAdjust="0"/>
    <p:restoredTop sz="94660"/>
  </p:normalViewPr>
  <p:slideViewPr>
    <p:cSldViewPr snapToGrid="0">
      <p:cViewPr>
        <p:scale>
          <a:sx n="75" d="100"/>
          <a:sy n="75" d="100"/>
        </p:scale>
        <p:origin x="106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328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0855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028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2208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4875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5761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16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870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0201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2347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29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Editar estilos de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723911-63F9-4D1B-B658-668BA8A96493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99BF99-B281-4BCF-A22C-66D1AA4B64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5500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Orientações e Arquitetura </a:t>
            </a:r>
            <a:r>
              <a:rPr lang="pt-BR" sz="4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do </a:t>
            </a:r>
            <a:r>
              <a:rPr lang="pt-BR" sz="4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endParaRPr lang="pt-BR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tângulo 3"/>
          <p:cNvSpPr/>
          <p:nvPr/>
        </p:nvSpPr>
        <p:spPr>
          <a:xfrm>
            <a:off x="419101" y="1388533"/>
            <a:ext cx="5575299" cy="281093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/>
          <p:cNvSpPr txBox="1"/>
          <p:nvPr/>
        </p:nvSpPr>
        <p:spPr>
          <a:xfrm>
            <a:off x="338669" y="101920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/>
              <a:t>Banco SENAI</a:t>
            </a:r>
            <a:endParaRPr lang="pt-BR" b="1" dirty="0"/>
          </a:p>
        </p:txBody>
      </p:sp>
      <p:sp>
        <p:nvSpPr>
          <p:cNvPr id="6" name="Retângulo 5"/>
          <p:cNvSpPr/>
          <p:nvPr/>
        </p:nvSpPr>
        <p:spPr>
          <a:xfrm>
            <a:off x="7563557" y="2139243"/>
            <a:ext cx="1038576" cy="124742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8" name="Conector de Seta Reta 7"/>
          <p:cNvCxnSpPr>
            <a:stCxn id="4" idx="3"/>
          </p:cNvCxnSpPr>
          <p:nvPr/>
        </p:nvCxnSpPr>
        <p:spPr>
          <a:xfrm>
            <a:off x="5994400" y="2794000"/>
            <a:ext cx="1411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ixaDeTexto 8"/>
          <p:cNvSpPr txBox="1"/>
          <p:nvPr/>
        </p:nvSpPr>
        <p:spPr>
          <a:xfrm>
            <a:off x="7563558" y="2382333"/>
            <a:ext cx="10385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Banco </a:t>
            </a:r>
          </a:p>
          <a:p>
            <a:pPr algn="ctr"/>
            <a:r>
              <a:rPr lang="pt-BR" dirty="0" smtClean="0"/>
              <a:t>Central</a:t>
            </a:r>
            <a:endParaRPr lang="pt-BR" dirty="0"/>
          </a:p>
        </p:txBody>
      </p:sp>
      <p:sp>
        <p:nvSpPr>
          <p:cNvPr id="10" name="CaixaDeTexto 9"/>
          <p:cNvSpPr txBox="1"/>
          <p:nvPr/>
        </p:nvSpPr>
        <p:spPr>
          <a:xfrm>
            <a:off x="6203245" y="2438778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Arquivos</a:t>
            </a:r>
            <a:endParaRPr lang="pt-BR" dirty="0"/>
          </a:p>
        </p:txBody>
      </p:sp>
      <p:sp>
        <p:nvSpPr>
          <p:cNvPr id="11" name="Retângulo 10"/>
          <p:cNvSpPr/>
          <p:nvPr/>
        </p:nvSpPr>
        <p:spPr>
          <a:xfrm>
            <a:off x="8421510" y="4744154"/>
            <a:ext cx="1219199" cy="103150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Elipse 12"/>
          <p:cNvSpPr/>
          <p:nvPr/>
        </p:nvSpPr>
        <p:spPr>
          <a:xfrm>
            <a:off x="6440314" y="4744154"/>
            <a:ext cx="965197" cy="995867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/>
          <p:cNvSpPr txBox="1"/>
          <p:nvPr/>
        </p:nvSpPr>
        <p:spPr>
          <a:xfrm>
            <a:off x="8602133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Fintech</a:t>
            </a:r>
            <a:endParaRPr lang="pt-BR" dirty="0"/>
          </a:p>
        </p:txBody>
      </p:sp>
      <p:sp>
        <p:nvSpPr>
          <p:cNvPr id="12" name="CaixaDeTexto 11"/>
          <p:cNvSpPr txBox="1"/>
          <p:nvPr/>
        </p:nvSpPr>
        <p:spPr>
          <a:xfrm>
            <a:off x="6429025" y="5057421"/>
            <a:ext cx="1038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Endpoint</a:t>
            </a:r>
            <a:endParaRPr lang="pt-BR" dirty="0">
              <a:solidFill>
                <a:schemeClr val="bg1"/>
              </a:solidFill>
            </a:endParaRPr>
          </a:p>
        </p:txBody>
      </p:sp>
      <p:cxnSp>
        <p:nvCxnSpPr>
          <p:cNvPr id="15" name="Conector de Seta Reta 14"/>
          <p:cNvCxnSpPr/>
          <p:nvPr/>
        </p:nvCxnSpPr>
        <p:spPr>
          <a:xfrm>
            <a:off x="7484536" y="5050176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/>
          <p:cNvCxnSpPr/>
          <p:nvPr/>
        </p:nvCxnSpPr>
        <p:spPr>
          <a:xfrm flipH="1">
            <a:off x="7411156" y="5400973"/>
            <a:ext cx="7789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/>
          <p:cNvCxnSpPr/>
          <p:nvPr/>
        </p:nvCxnSpPr>
        <p:spPr>
          <a:xfrm flipH="1">
            <a:off x="3725335" y="5400973"/>
            <a:ext cx="2590799" cy="257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de Seta Reta 20"/>
          <p:cNvCxnSpPr/>
          <p:nvPr/>
        </p:nvCxnSpPr>
        <p:spPr>
          <a:xfrm flipH="1" flipV="1">
            <a:off x="3702758" y="4196263"/>
            <a:ext cx="22576" cy="12047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tângulo Arredondado 25"/>
          <p:cNvSpPr/>
          <p:nvPr/>
        </p:nvSpPr>
        <p:spPr>
          <a:xfrm>
            <a:off x="1159932" y="3149997"/>
            <a:ext cx="688622" cy="7334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/>
          <p:cNvSpPr txBox="1"/>
          <p:nvPr/>
        </p:nvSpPr>
        <p:spPr>
          <a:xfrm>
            <a:off x="1258709" y="3340688"/>
            <a:ext cx="53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DB</a:t>
            </a:r>
            <a:endParaRPr lang="pt-BR" dirty="0"/>
          </a:p>
        </p:txBody>
      </p:sp>
      <p:sp>
        <p:nvSpPr>
          <p:cNvPr id="28" name="Retângulo Arredondado 27"/>
          <p:cNvSpPr/>
          <p:nvPr/>
        </p:nvSpPr>
        <p:spPr>
          <a:xfrm>
            <a:off x="2565400" y="3124638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CaixaDeTexto 28"/>
          <p:cNvSpPr txBox="1"/>
          <p:nvPr/>
        </p:nvSpPr>
        <p:spPr>
          <a:xfrm>
            <a:off x="2565399" y="3288730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BackEnd API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30" name="Retângulo Arredondado 29"/>
          <p:cNvSpPr/>
          <p:nvPr/>
        </p:nvSpPr>
        <p:spPr>
          <a:xfrm>
            <a:off x="2542824" y="1876433"/>
            <a:ext cx="1416756" cy="725735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1"/>
              </a:solidFill>
            </a:endParaRPr>
          </a:p>
        </p:txBody>
      </p:sp>
      <p:sp>
        <p:nvSpPr>
          <p:cNvPr id="31" name="CaixaDeTexto 30"/>
          <p:cNvSpPr txBox="1"/>
          <p:nvPr/>
        </p:nvSpPr>
        <p:spPr>
          <a:xfrm>
            <a:off x="2610558" y="20546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solidFill>
                  <a:schemeClr val="bg1"/>
                </a:solidFill>
              </a:rPr>
              <a:t>FrontEnd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32" name="CaixaDeTexto 31"/>
          <p:cNvSpPr txBox="1"/>
          <p:nvPr/>
        </p:nvSpPr>
        <p:spPr>
          <a:xfrm>
            <a:off x="1111959" y="1378985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MVC</a:t>
            </a:r>
            <a:endParaRPr lang="pt-BR" dirty="0"/>
          </a:p>
        </p:txBody>
      </p:sp>
      <p:cxnSp>
        <p:nvCxnSpPr>
          <p:cNvPr id="36" name="Conector de Seta Reta 35"/>
          <p:cNvCxnSpPr/>
          <p:nvPr/>
        </p:nvCxnSpPr>
        <p:spPr>
          <a:xfrm>
            <a:off x="1837268" y="3487505"/>
            <a:ext cx="705556" cy="72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tângulo 37"/>
          <p:cNvSpPr/>
          <p:nvPr/>
        </p:nvSpPr>
        <p:spPr>
          <a:xfrm>
            <a:off x="419101" y="4886028"/>
            <a:ext cx="2741792" cy="132787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CaixaDeTexto 38"/>
          <p:cNvSpPr txBox="1"/>
          <p:nvPr/>
        </p:nvSpPr>
        <p:spPr>
          <a:xfrm>
            <a:off x="338669" y="4566914"/>
            <a:ext cx="2709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SQUAD BI</a:t>
            </a:r>
            <a:endParaRPr lang="pt-BR" dirty="0"/>
          </a:p>
        </p:txBody>
      </p:sp>
      <p:cxnSp>
        <p:nvCxnSpPr>
          <p:cNvPr id="40" name="Conector de Seta Reta 39"/>
          <p:cNvCxnSpPr/>
          <p:nvPr/>
        </p:nvCxnSpPr>
        <p:spPr>
          <a:xfrm>
            <a:off x="1523998" y="3876992"/>
            <a:ext cx="0" cy="9310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CaixaDeTexto 42"/>
          <p:cNvSpPr txBox="1"/>
          <p:nvPr/>
        </p:nvSpPr>
        <p:spPr>
          <a:xfrm>
            <a:off x="976489" y="4883520"/>
            <a:ext cx="17215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Analise de Dados</a:t>
            </a:r>
            <a:endParaRPr lang="pt-BR" dirty="0"/>
          </a:p>
        </p:txBody>
      </p:sp>
      <p:sp>
        <p:nvSpPr>
          <p:cNvPr id="44" name="CaixaDeTexto 43"/>
          <p:cNvSpPr txBox="1"/>
          <p:nvPr/>
        </p:nvSpPr>
        <p:spPr>
          <a:xfrm>
            <a:off x="1072444" y="5653210"/>
            <a:ext cx="17215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 smtClean="0"/>
              <a:t>Python/Power BI ou Quicksight</a:t>
            </a:r>
            <a:endParaRPr lang="pt-BR" sz="1200" dirty="0"/>
          </a:p>
        </p:txBody>
      </p:sp>
      <p:sp>
        <p:nvSpPr>
          <p:cNvPr id="45" name="Retângulo 44"/>
          <p:cNvSpPr/>
          <p:nvPr/>
        </p:nvSpPr>
        <p:spPr>
          <a:xfrm>
            <a:off x="2114550" y="1074649"/>
            <a:ext cx="387985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C# / ASP.NET /CSS/ HTMl / JS ou Angular</a:t>
            </a:r>
            <a:endParaRPr lang="pt-BR" sz="1400" dirty="0"/>
          </a:p>
        </p:txBody>
      </p:sp>
      <p:sp>
        <p:nvSpPr>
          <p:cNvPr id="47" name="Retângulo 46"/>
          <p:cNvSpPr/>
          <p:nvPr/>
        </p:nvSpPr>
        <p:spPr>
          <a:xfrm>
            <a:off x="387169" y="6213905"/>
            <a:ext cx="2773723" cy="42979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Power BI / Python / Quicksight / AWS Serviços</a:t>
            </a:r>
            <a:endParaRPr lang="pt-BR" sz="1400" dirty="0"/>
          </a:p>
        </p:txBody>
      </p:sp>
      <p:sp>
        <p:nvSpPr>
          <p:cNvPr id="49" name="Retângulo 48"/>
          <p:cNvSpPr/>
          <p:nvPr/>
        </p:nvSpPr>
        <p:spPr>
          <a:xfrm>
            <a:off x="7563557" y="3400692"/>
            <a:ext cx="1038576" cy="289292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TXT / XML</a:t>
            </a:r>
            <a:endParaRPr lang="pt-BR" sz="1400" dirty="0"/>
          </a:p>
        </p:txBody>
      </p:sp>
      <p:sp>
        <p:nvSpPr>
          <p:cNvPr id="50" name="Retângulo 49"/>
          <p:cNvSpPr/>
          <p:nvPr/>
        </p:nvSpPr>
        <p:spPr>
          <a:xfrm>
            <a:off x="6448781" y="5785012"/>
            <a:ext cx="1038576" cy="3298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API Rest</a:t>
            </a:r>
            <a:endParaRPr lang="pt-BR" sz="1400" dirty="0"/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accent6"/>
                </a:solidFill>
              </a:rPr>
              <a:t>Banco</a:t>
            </a:r>
            <a:r>
              <a:rPr lang="pt-BR" b="1" dirty="0" smtClean="0">
                <a:solidFill>
                  <a:srgbClr val="C00000"/>
                </a:solidFill>
              </a:rPr>
              <a:t>S</a:t>
            </a:r>
            <a:r>
              <a:rPr lang="pt-BR" b="1" dirty="0" smtClean="0">
                <a:solidFill>
                  <a:schemeClr val="accent5"/>
                </a:solidFill>
              </a:rPr>
              <a:t>ENAI</a:t>
            </a:r>
            <a:endParaRPr lang="pt-BR" b="1" dirty="0">
              <a:solidFill>
                <a:schemeClr val="accent5"/>
              </a:solidFill>
            </a:endParaRPr>
          </a:p>
        </p:txBody>
      </p:sp>
      <p:sp>
        <p:nvSpPr>
          <p:cNvPr id="52" name="Retângulo 51"/>
          <p:cNvSpPr/>
          <p:nvPr/>
        </p:nvSpPr>
        <p:spPr>
          <a:xfrm>
            <a:off x="8421510" y="5775656"/>
            <a:ext cx="1219200" cy="30219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 smtClean="0"/>
              <a:t>Angular</a:t>
            </a:r>
            <a:endParaRPr lang="pt-BR" sz="1400" dirty="0"/>
          </a:p>
        </p:txBody>
      </p:sp>
      <p:sp>
        <p:nvSpPr>
          <p:cNvPr id="41" name="Retângulo Arredondado 40"/>
          <p:cNvSpPr/>
          <p:nvPr/>
        </p:nvSpPr>
        <p:spPr>
          <a:xfrm>
            <a:off x="4347281" y="3124638"/>
            <a:ext cx="1416756" cy="72573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>
                <a:solidFill>
                  <a:schemeClr val="tx1"/>
                </a:solidFill>
              </a:rPr>
              <a:t>TDD</a:t>
            </a:r>
            <a:endParaRPr lang="pt-BR" dirty="0">
              <a:solidFill>
                <a:schemeClr val="tx1"/>
              </a:solidFill>
            </a:endParaRPr>
          </a:p>
        </p:txBody>
      </p:sp>
      <p:cxnSp>
        <p:nvCxnSpPr>
          <p:cNvPr id="42" name="Conector de Seta Reta 41"/>
          <p:cNvCxnSpPr>
            <a:endCxn id="28" idx="3"/>
          </p:cNvCxnSpPr>
          <p:nvPr/>
        </p:nvCxnSpPr>
        <p:spPr>
          <a:xfrm flipH="1">
            <a:off x="3982156" y="3487505"/>
            <a:ext cx="342194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3055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4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DER INICIAL</a:t>
            </a:r>
            <a:endParaRPr lang="pt-BR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accent6"/>
                </a:solidFill>
              </a:rPr>
              <a:t>Banco</a:t>
            </a:r>
            <a:r>
              <a:rPr lang="pt-BR" b="1" dirty="0" smtClean="0">
                <a:solidFill>
                  <a:srgbClr val="C00000"/>
                </a:solidFill>
              </a:rPr>
              <a:t>S</a:t>
            </a:r>
            <a:r>
              <a:rPr lang="pt-BR" b="1" dirty="0" smtClean="0">
                <a:solidFill>
                  <a:schemeClr val="accent5"/>
                </a:solidFill>
              </a:rPr>
              <a:t>ENAI</a:t>
            </a:r>
            <a:endParaRPr lang="pt-BR" b="1" dirty="0">
              <a:solidFill>
                <a:schemeClr val="accent5"/>
              </a:solidFill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493" y="910148"/>
            <a:ext cx="8869013" cy="54966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6" name="CaixaDeTexto 45"/>
          <p:cNvSpPr txBox="1"/>
          <p:nvPr/>
        </p:nvSpPr>
        <p:spPr>
          <a:xfrm>
            <a:off x="2048933" y="6089702"/>
            <a:ext cx="4803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Movimentação = Transações bancárias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7259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0" y="140230"/>
            <a:ext cx="12192000" cy="717725"/>
          </a:xfrm>
        </p:spPr>
        <p:txBody>
          <a:bodyPr>
            <a:normAutofit/>
          </a:bodyPr>
          <a:lstStyle/>
          <a:p>
            <a:r>
              <a:rPr lang="pt-BR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REGRAS DE NEGÓCIO PRINCIPAIS</a:t>
            </a:r>
            <a:endParaRPr lang="pt-BR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CaixaDeTexto 50"/>
          <p:cNvSpPr txBox="1"/>
          <p:nvPr/>
        </p:nvSpPr>
        <p:spPr>
          <a:xfrm>
            <a:off x="10644719" y="6459034"/>
            <a:ext cx="1422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smtClean="0">
                <a:solidFill>
                  <a:schemeClr val="accent6"/>
                </a:solidFill>
              </a:rPr>
              <a:t>Banco</a:t>
            </a:r>
            <a:r>
              <a:rPr lang="pt-BR" b="1" dirty="0" smtClean="0">
                <a:solidFill>
                  <a:srgbClr val="C00000"/>
                </a:solidFill>
              </a:rPr>
              <a:t>S</a:t>
            </a:r>
            <a:r>
              <a:rPr lang="pt-BR" b="1" dirty="0" smtClean="0">
                <a:solidFill>
                  <a:schemeClr val="accent5"/>
                </a:solidFill>
              </a:rPr>
              <a:t>ENAI</a:t>
            </a:r>
            <a:endParaRPr lang="pt-BR" b="1" dirty="0">
              <a:solidFill>
                <a:schemeClr val="accent5"/>
              </a:solidFill>
            </a:endParaRP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273158"/>
              </p:ext>
            </p:extLst>
          </p:nvPr>
        </p:nvGraphicFramePr>
        <p:xfrm>
          <a:off x="1132419" y="1075266"/>
          <a:ext cx="10223500" cy="432816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198066">
                  <a:extLst>
                    <a:ext uri="{9D8B030D-6E8A-4147-A177-3AD203B41FA5}">
                      <a16:colId xmlns:a16="http://schemas.microsoft.com/office/drawing/2014/main" val="4042301403"/>
                    </a:ext>
                  </a:extLst>
                </a:gridCol>
                <a:gridCol w="9025434">
                  <a:extLst>
                    <a:ext uri="{9D8B030D-6E8A-4147-A177-3AD203B41FA5}">
                      <a16:colId xmlns:a16="http://schemas.microsoft.com/office/drawing/2014/main" val="15272179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2000" dirty="0" smtClean="0"/>
                        <a:t>REGRA</a:t>
                      </a:r>
                      <a:r>
                        <a:rPr lang="pt-BR" sz="2000" baseline="0" dirty="0" smtClean="0"/>
                        <a:t>  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dirty="0" smtClean="0"/>
                        <a:t>CONCEITO</a:t>
                      </a:r>
                      <a:endParaRPr lang="pt-BR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8820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 smtClean="0"/>
                        <a:t>R01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="1" dirty="0" smtClean="0"/>
                        <a:t>Abertura</a:t>
                      </a:r>
                      <a:r>
                        <a:rPr lang="pt-BR" sz="2000" b="1" baseline="0" dirty="0" smtClean="0"/>
                        <a:t> de Conta Digitalmente </a:t>
                      </a:r>
                      <a:r>
                        <a:rPr lang="pt-BR" sz="2000" baseline="0" dirty="0" smtClean="0"/>
                        <a:t>– cliente acessa link onde deve informar os dados pessoais.  Ao enviar o status da conta fica em “Em Analise”. Sistema processa fluxo de Validar Abertura de Conta com regras especificas que irá retorna o status Aprovado, ou Reprovado.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1639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 smtClean="0"/>
                        <a:t>R02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 smtClean="0"/>
                        <a:t>Envio PIX – cliente informa chave. Sistema valida se chave existe no banco ou em outro banco via Banco Central (API Externa). Validado , verifica se tem saldo, se sim faz o envio e atualização de saldo.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845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pt-BR" sz="2000" dirty="0" smtClean="0"/>
                        <a:t>R03</a:t>
                      </a:r>
                      <a:endParaRPr lang="pt-B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2000" baseline="0" dirty="0" smtClean="0"/>
                        <a:t>Empréstimo – são produtos do Banco ofertado para os clientes. O cliente acessar link onde mostrar os valores disponíveis para ele. Informa taxa de juros ao ano e numero de parcelas para serem escolhidas. No final informar o valor a ser pago ao final do pagamento de todas as parcelas aplicadas o juros e opção para CONFIRMAR o empréstimo.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7474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58252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225</Words>
  <Application>Microsoft Office PowerPoint</Application>
  <PresentationFormat>Widescreen</PresentationFormat>
  <Paragraphs>34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Tema do Office</vt:lpstr>
      <vt:lpstr>Orientações e Arquitetura do Projeto</vt:lpstr>
      <vt:lpstr>DER INICIAL</vt:lpstr>
      <vt:lpstr>REGRAS DE NEGÓCIO PRINCIPAIS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 do Projeto</dc:title>
  <dc:creator>Professor.Cetafest</dc:creator>
  <cp:lastModifiedBy>Professor.Cetafest</cp:lastModifiedBy>
  <cp:revision>11</cp:revision>
  <dcterms:created xsi:type="dcterms:W3CDTF">2026-05-20T11:32:37Z</dcterms:created>
  <dcterms:modified xsi:type="dcterms:W3CDTF">2026-05-22T14:15:05Z</dcterms:modified>
</cp:coreProperties>
</file>